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moke\OneDrive\Documents\Studies\Excel\Data_Analysis\Netflix_Customer_Churn\netflix_customer_chur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moke\OneDrive\Documents\Studies\Excel\Data_Analysis\Netflix_Customer_Churn\netflix_customer_chur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moke\OneDrive\Documents\Studies\Excel\Data_Analysis\Netflix_Customer_Churn\netflix_customer_chur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moke\OneDrive\Documents\Studies\Excel\Data_Analysis\Netflix_Customer_Churn\netflix_customer_chur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Churn Volume by Subscription</a:t>
            </a:r>
            <a:r>
              <a:rPr lang="en-US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visuals!$N$56</c:f>
              <c:strCache>
                <c:ptCount val="1"/>
                <c:pt idx="0">
                  <c:v>Churn Volume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visuals!$M$57:$M$59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visuals!$N$57:$N$59</c:f>
              <c:numCache>
                <c:formatCode>General</c:formatCode>
                <c:ptCount val="3"/>
                <c:pt idx="0">
                  <c:v>1027</c:v>
                </c:pt>
                <c:pt idx="1">
                  <c:v>740</c:v>
                </c:pt>
                <c:pt idx="2">
                  <c:v>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AC-4131-AC57-86A62BFB7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7560464"/>
        <c:axId val="577556624"/>
      </c:barChart>
      <c:lineChart>
        <c:grouping val="standard"/>
        <c:varyColors val="0"/>
        <c:ser>
          <c:idx val="1"/>
          <c:order val="1"/>
          <c:tx>
            <c:strRef>
              <c:f>visuals!$O$56</c:f>
              <c:strCache>
                <c:ptCount val="1"/>
                <c:pt idx="0">
                  <c:v>Churn Rate</c:v>
                </c:pt>
              </c:strCache>
            </c:strRef>
          </c:tx>
          <c:spPr>
            <a:ln w="28575" cap="rnd">
              <a:solidFill>
                <a:srgbClr val="EE0000"/>
              </a:solidFill>
              <a:round/>
            </a:ln>
            <a:effectLst/>
          </c:spPr>
          <c:marker>
            <c:symbol val="none"/>
          </c:marker>
          <c:cat>
            <c:strRef>
              <c:f>visuals!$M$57:$M$59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visuals!$O$57:$O$59</c:f>
              <c:numCache>
                <c:formatCode>0.00%</c:formatCode>
                <c:ptCount val="3"/>
                <c:pt idx="0">
                  <c:v>0.40834990059642146</c:v>
                </c:pt>
                <c:pt idx="1">
                  <c:v>0.29423459244532801</c:v>
                </c:pt>
                <c:pt idx="2">
                  <c:v>0.29741550695825048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AC-4131-AC57-86A62BFB7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7559984"/>
        <c:axId val="577549424"/>
      </c:lineChart>
      <c:catAx>
        <c:axId val="577560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77556624"/>
        <c:crosses val="autoZero"/>
        <c:auto val="1"/>
        <c:lblAlgn val="ctr"/>
        <c:lblOffset val="100"/>
        <c:noMultiLvlLbl val="0"/>
      </c:catAx>
      <c:valAx>
        <c:axId val="577556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77560464"/>
        <c:crosses val="autoZero"/>
        <c:crossBetween val="between"/>
      </c:valAx>
      <c:valAx>
        <c:axId val="577549424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77559984"/>
        <c:crosses val="max"/>
        <c:crossBetween val="between"/>
      </c:valAx>
      <c:catAx>
        <c:axId val="5775599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75494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Share Lost By Subscription Type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visuals!$M$64</c:f>
              <c:strCache>
                <c:ptCount val="1"/>
                <c:pt idx="0">
                  <c:v>Revenue Lost</c:v>
                </c:pt>
              </c:strCache>
            </c:strRef>
          </c:tx>
          <c:spPr>
            <a:solidFill>
              <a:srgbClr val="EE0000"/>
            </a:solidFill>
            <a:ln>
              <a:noFill/>
            </a:ln>
            <a:effectLst/>
          </c:spPr>
          <c:invertIfNegative val="0"/>
          <c:cat>
            <c:strRef>
              <c:f>visuals!$L$65:$L$67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visuals!$M$65:$M$67</c:f>
              <c:numCache>
                <c:formatCode>"$"#,##0.00</c:formatCode>
                <c:ptCount val="3"/>
                <c:pt idx="0">
                  <c:v>9232.7299999998286</c:v>
                </c:pt>
                <c:pt idx="1">
                  <c:v>13312.599999999864</c:v>
                </c:pt>
                <c:pt idx="2">
                  <c:v>10464.519999999871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B5-4AC6-8006-BCB263C81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7556144"/>
        <c:axId val="577560944"/>
      </c:barChart>
      <c:lineChart>
        <c:grouping val="standard"/>
        <c:varyColors val="0"/>
        <c:ser>
          <c:idx val="1"/>
          <c:order val="1"/>
          <c:tx>
            <c:strRef>
              <c:f>visuals!$N$64</c:f>
              <c:strCache>
                <c:ptCount val="1"/>
                <c:pt idx="0">
                  <c:v>% Revenue Lost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visuals!$L$65:$L$67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visuals!$N$65:$N$67</c:f>
              <c:numCache>
                <c:formatCode>0.00%</c:formatCode>
                <c:ptCount val="3"/>
                <c:pt idx="0">
                  <c:v>0.27969621188825244</c:v>
                </c:pt>
                <c:pt idx="1">
                  <c:v>0.40329174473677676</c:v>
                </c:pt>
                <c:pt idx="2">
                  <c:v>0.31701204337491445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B5-4AC6-8006-BCB263C81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77553264"/>
        <c:axId val="577551344"/>
      </c:lineChart>
      <c:catAx>
        <c:axId val="57755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77560944"/>
        <c:crosses val="autoZero"/>
        <c:auto val="1"/>
        <c:lblAlgn val="ctr"/>
        <c:lblOffset val="100"/>
        <c:noMultiLvlLbl val="0"/>
      </c:catAx>
      <c:valAx>
        <c:axId val="577560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77556144"/>
        <c:crosses val="autoZero"/>
        <c:crossBetween val="between"/>
      </c:valAx>
      <c:valAx>
        <c:axId val="577551344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553264"/>
        <c:crosses val="max"/>
        <c:crossBetween val="between"/>
      </c:valAx>
      <c:catAx>
        <c:axId val="5775532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75513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[netflix_customer_churn.xlsx]Diagnostic_Analysis!PivotTable8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Volume By</a:t>
            </a:r>
            <a:r>
              <a:rPr lang="en-US" b="0" baseline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</c:rich>
      </c:tx>
      <c:layout>
        <c:manualLayout>
          <c:xMode val="edge"/>
          <c:yMode val="edge"/>
          <c:x val="0.19404855643044619"/>
          <c:y val="3.70370370370370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</c:marker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Diagnostic_Analysis!$AF$5</c:f>
              <c:strCache>
                <c:ptCount val="1"/>
                <c:pt idx="0">
                  <c:v>Churn Volume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DA-435A-8298-F0EFDD50C25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DA-435A-8298-F0EFDD50C25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4DA-435A-8298-F0EFDD50C25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4DA-435A-8298-F0EFDD50C258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4DA-435A-8298-F0EFDD50C258}"/>
              </c:ext>
            </c:extLst>
          </c:dPt>
          <c:dLbls>
            <c:delete val="1"/>
          </c:dLbls>
          <c:cat>
            <c:strRef>
              <c:f>Diagnostic_Analysis!$AE$6:$AE$11</c:f>
              <c:strCache>
                <c:ptCount val="5"/>
                <c:pt idx="0">
                  <c:v>Desktop</c:v>
                </c:pt>
                <c:pt idx="1">
                  <c:v>Laptop</c:v>
                </c:pt>
                <c:pt idx="2">
                  <c:v>Mobile</c:v>
                </c:pt>
                <c:pt idx="3">
                  <c:v>Tablet</c:v>
                </c:pt>
                <c:pt idx="4">
                  <c:v>TV</c:v>
                </c:pt>
              </c:strCache>
            </c:strRef>
          </c:cat>
          <c:val>
            <c:numRef>
              <c:f>Diagnostic_Analysis!$AF$6:$AF$11</c:f>
              <c:numCache>
                <c:formatCode>General</c:formatCode>
                <c:ptCount val="5"/>
                <c:pt idx="0">
                  <c:v>467</c:v>
                </c:pt>
                <c:pt idx="1">
                  <c:v>521</c:v>
                </c:pt>
                <c:pt idx="2">
                  <c:v>507</c:v>
                </c:pt>
                <c:pt idx="3">
                  <c:v>524</c:v>
                </c:pt>
                <c:pt idx="4">
                  <c:v>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4DA-435A-8298-F0EFDD50C258}"/>
            </c:ext>
          </c:extLst>
        </c:ser>
        <c:ser>
          <c:idx val="1"/>
          <c:order val="1"/>
          <c:tx>
            <c:strRef>
              <c:f>Diagnostic_Analysis!$AG$5</c:f>
              <c:strCache>
                <c:ptCount val="1"/>
                <c:pt idx="0">
                  <c:v>Churn Rate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24DA-435A-8298-F0EFDD50C258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24DA-435A-8298-F0EFDD50C258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24DA-435A-8298-F0EFDD50C258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2-24DA-435A-8298-F0EFDD50C258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4-24DA-435A-8298-F0EFDD50C25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Diagnostic_Analysis!$AE$6:$AE$11</c:f>
              <c:strCache>
                <c:ptCount val="5"/>
                <c:pt idx="0">
                  <c:v>Desktop</c:v>
                </c:pt>
                <c:pt idx="1">
                  <c:v>Laptop</c:v>
                </c:pt>
                <c:pt idx="2">
                  <c:v>Mobile</c:v>
                </c:pt>
                <c:pt idx="3">
                  <c:v>Tablet</c:v>
                </c:pt>
                <c:pt idx="4">
                  <c:v>TV</c:v>
                </c:pt>
              </c:strCache>
            </c:strRef>
          </c:cat>
          <c:val>
            <c:numRef>
              <c:f>Diagnostic_Analysis!$AG$6:$AG$11</c:f>
              <c:numCache>
                <c:formatCode>0.00%</c:formatCode>
                <c:ptCount val="5"/>
                <c:pt idx="0">
                  <c:v>0.18568588469184891</c:v>
                </c:pt>
                <c:pt idx="1">
                  <c:v>0.20715705765407555</c:v>
                </c:pt>
                <c:pt idx="2">
                  <c:v>0.20159045725646124</c:v>
                </c:pt>
                <c:pt idx="3">
                  <c:v>0.20834990059642147</c:v>
                </c:pt>
                <c:pt idx="4">
                  <c:v>0.19721669980119283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24DA-435A-8298-F0EFDD50C2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[netflix_customer_churn.xlsx]Diagnostic_Analysis!PivotTable7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>
                <a:solidFill>
                  <a:sysClr val="windowText" lastClr="000000"/>
                </a:solidFill>
              </a:rPr>
              <a:t>Churn Volume By Region</a:t>
            </a:r>
          </a:p>
        </c:rich>
      </c:tx>
      <c:layout>
        <c:manualLayout>
          <c:xMode val="edge"/>
          <c:yMode val="edge"/>
          <c:x val="0.2170415573053368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circle"/>
          <c:size val="4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1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6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7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8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  <c:pivotFmt>
        <c:idx val="29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Diagnostic_Analysis!$AB$5</c:f>
              <c:strCache>
                <c:ptCount val="1"/>
                <c:pt idx="0">
                  <c:v>Churn Volume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C28-4599-8CAC-39DBBEA6275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C28-4599-8CAC-39DBBEA6275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FC28-4599-8CAC-39DBBEA6275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FC28-4599-8CAC-39DBBEA6275C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C28-4599-8CAC-39DBBEA6275C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6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6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6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FC28-4599-8CAC-39DBBEA6275C}"/>
              </c:ext>
            </c:extLst>
          </c:dPt>
          <c:dLbls>
            <c:delete val="1"/>
          </c:dLbls>
          <c:cat>
            <c:strRef>
              <c:f>Diagnostic_Analysis!$AA$6:$AA$12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North America</c:v>
                </c:pt>
                <c:pt idx="4">
                  <c:v>Oceania</c:v>
                </c:pt>
                <c:pt idx="5">
                  <c:v>South America</c:v>
                </c:pt>
              </c:strCache>
            </c:strRef>
          </c:cat>
          <c:val>
            <c:numRef>
              <c:f>Diagnostic_Analysis!$AB$6:$AB$12</c:f>
              <c:numCache>
                <c:formatCode>General</c:formatCode>
                <c:ptCount val="6"/>
                <c:pt idx="0">
                  <c:v>388</c:v>
                </c:pt>
                <c:pt idx="1">
                  <c:v>426</c:v>
                </c:pt>
                <c:pt idx="2">
                  <c:v>448</c:v>
                </c:pt>
                <c:pt idx="3">
                  <c:v>421</c:v>
                </c:pt>
                <c:pt idx="4">
                  <c:v>383</c:v>
                </c:pt>
                <c:pt idx="5">
                  <c:v>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C28-4599-8CAC-39DBBEA6275C}"/>
            </c:ext>
          </c:extLst>
        </c:ser>
        <c:ser>
          <c:idx val="1"/>
          <c:order val="1"/>
          <c:tx>
            <c:strRef>
              <c:f>Diagnostic_Analysis!$AC$5</c:f>
              <c:strCache>
                <c:ptCount val="1"/>
                <c:pt idx="0">
                  <c:v>Churn Rate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FC28-4599-8CAC-39DBBEA6275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FC28-4599-8CAC-39DBBEA6275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3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3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2-FC28-4599-8CAC-39DBBEA6275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4-FC28-4599-8CAC-39DBBEA6275C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5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5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6-FC28-4599-8CAC-39DBBEA6275C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6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6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6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8-FC28-4599-8CAC-39DBBEA627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Diagnostic_Analysis!$AA$6:$AA$12</c:f>
              <c:strCache>
                <c:ptCount val="6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North America</c:v>
                </c:pt>
                <c:pt idx="4">
                  <c:v>Oceania</c:v>
                </c:pt>
                <c:pt idx="5">
                  <c:v>South America</c:v>
                </c:pt>
              </c:strCache>
            </c:strRef>
          </c:cat>
          <c:val>
            <c:numRef>
              <c:f>Diagnostic_Analysis!$AC$6:$AC$12</c:f>
              <c:numCache>
                <c:formatCode>0.00%</c:formatCode>
                <c:ptCount val="6"/>
                <c:pt idx="0">
                  <c:v>0.15427435387673957</c:v>
                </c:pt>
                <c:pt idx="1">
                  <c:v>0.16938369781312126</c:v>
                </c:pt>
                <c:pt idx="2">
                  <c:v>0.17813121272365806</c:v>
                </c:pt>
                <c:pt idx="3">
                  <c:v>0.16739562624254473</c:v>
                </c:pt>
                <c:pt idx="4">
                  <c:v>0.15228628230616303</c:v>
                </c:pt>
                <c:pt idx="5">
                  <c:v>0.17852882703777337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FC28-4599-8CAC-39DBBEA627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7D33-F46C-21B2-D28C-A86E93527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B413B-F1B4-BCDE-2E5C-B0DA164F1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322B-FBB2-3296-5D77-CE869CE3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D652D-AD29-B5E9-A0D7-354E99DC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839E5-D27D-A6B5-24C6-4748BA81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14DC-62A4-53A8-BB80-A38A8C31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E5F1D-943B-9977-AAAF-570E86EE2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9079B-6BB9-467A-E05D-0D59969F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5E123-7671-B87C-1FDB-C895F8D2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5D40-212B-C4DD-8DE0-5C7D6DB6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2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60C84-A749-21E1-F1E5-31D96FA3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4C03-B238-D8AF-1C1C-B5D3DDDFE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C0AE2-3A33-AFE3-8E8F-08498536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02046-3C79-2C1C-851E-F2187600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C85F9-0870-F813-D878-8B4B189A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3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9B8E-022E-0397-39F0-63DC26B3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A1238-08D1-DAC6-5315-3DA6A9F5D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19F29-950B-49AF-5A19-43C55FD8D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E9EE9-14D6-A690-D393-9E7CED02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72476-A416-ED08-01A6-7E83612E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C5EDD-7965-B65F-3A3B-7FEA7252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4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07D2-7E9C-B4D2-C1FA-34AD38BB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5A0CF-424E-086B-D681-FADC5E6EB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86B51-2289-F931-274F-40BB617A5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86735-4225-1E52-05AA-45941B020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E1F05-9BE0-2120-9161-4EDAC1A5C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028A0-0838-4223-3A3D-371C906E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7B348-7311-4810-E93D-56A36611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8DDE3-8D41-BDCB-77BA-5FD3E28E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5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1CF9-D48D-33A2-D996-64A82482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CE2ED-4753-51B5-7F31-8E4B0542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F3442-0619-C244-E166-187AB336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695F8-7F07-B324-550A-BCF23F7F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4D4ACB-7CB3-21BC-E511-3EE384F6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C63DF-37DA-8EFA-6279-E34CE959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1C23F-0E8E-94A9-FA88-09F3BB6F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8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1B3A-2310-6163-E040-77AE2609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4D93D-0DBF-EA96-22F2-13143F9D8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B3561-E795-AB79-97C2-94A818DE6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09519-FFA2-670A-5CF9-4C4372CB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06E22-F0ED-4921-8B68-C85D63EA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994DF-1F06-D969-87B6-68A0D90B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9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F9D1-2FCE-C8FC-A52E-6160A7B90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526BA-4DFF-2499-FB51-24E6F5C9F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7268F-3645-273F-2880-177509D9C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2CC4D-3273-1776-E5E3-8D754BB3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6FB7B-4395-E201-6CE2-F861BAF2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74C13-EAC0-E64D-79F2-E0291A6C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4743-9A6E-8D84-846D-2A063FC4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28FB2-67C3-BD78-820A-218BCF79A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14B0B-A3FD-9898-8259-8D4D8445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2E0FE-E5FB-D8D9-0B58-950067ED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4DA85-1DEA-CC7E-7FE2-10D3E2E1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5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95D6B-3D36-A74B-4207-FABE4EB47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CA3B3-727D-966D-CAC8-4225E1C88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E4B06-DE4A-6475-CE2B-C4D9008B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8FE2-062B-92C1-4824-49D31360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81E74-B58B-A26C-5C63-0437492C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9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7CE82-3E6E-52CA-1AF5-B7F0433F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7D533-9F79-D38E-106B-C9653584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226C2-012C-BB4E-64BE-9E7392356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3D34E-3558-43D5-88BD-3876D686246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1658A-928B-DB8A-0FDC-DEBE45692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04A42-4A46-21B9-D575-6AD6CD00F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683F6-98C4-4153-B568-9FD178EDB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D5FF-FEE7-12D4-352C-C4F176F97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8672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Cracking the Churn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A1E27-9154-F79D-C5D7-946E5E7AE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174" y="424702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Strategy For Retaining High-Value Customers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Wesley Omoke, Data Analyst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7/11/2025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0B9688B-5072-E96F-074E-70BAD8D29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3806" y="-645499"/>
            <a:ext cx="5466735" cy="477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9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F64B6-A38B-2A54-C9FF-366B93B3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Quantifying the Financial Impact of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0F1C-050D-1613-5A1B-482C1CB8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2161"/>
            <a:ext cx="10515600" cy="20448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88B310-02ED-2D5A-0CE2-59FB6061D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04521"/>
              </p:ext>
            </p:extLst>
          </p:nvPr>
        </p:nvGraphicFramePr>
        <p:xfrm>
          <a:off x="1838632" y="1850841"/>
          <a:ext cx="8013291" cy="134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0013">
                  <a:extLst>
                    <a:ext uri="{9D8B030D-6E8A-4147-A177-3AD203B41FA5}">
                      <a16:colId xmlns:a16="http://schemas.microsoft.com/office/drawing/2014/main" val="1800721276"/>
                    </a:ext>
                  </a:extLst>
                </a:gridCol>
                <a:gridCol w="2310101">
                  <a:extLst>
                    <a:ext uri="{9D8B030D-6E8A-4147-A177-3AD203B41FA5}">
                      <a16:colId xmlns:a16="http://schemas.microsoft.com/office/drawing/2014/main" val="3016386569"/>
                    </a:ext>
                  </a:extLst>
                </a:gridCol>
                <a:gridCol w="2773177">
                  <a:extLst>
                    <a:ext uri="{9D8B030D-6E8A-4147-A177-3AD203B41FA5}">
                      <a16:colId xmlns:a16="http://schemas.microsoft.com/office/drawing/2014/main" val="3605206343"/>
                    </a:ext>
                  </a:extLst>
                </a:gridCol>
              </a:tblGrid>
              <a:tr h="672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Netflix Revenue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Lost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Revenue Lost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1647768"/>
                  </a:ext>
                </a:extLst>
              </a:tr>
              <a:tr h="672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$68,417.00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$33,009.85 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48%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96647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940E2D-AEDB-9A69-8D79-0B9A9705DBAE}"/>
              </a:ext>
            </a:extLst>
          </p:cNvPr>
          <p:cNvSpPr txBox="1"/>
          <p:nvPr/>
        </p:nvSpPr>
        <p:spPr>
          <a:xfrm>
            <a:off x="1388962" y="3750197"/>
            <a:ext cx="10185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 represents the total recurring revenue lost from the customers within the analyzed dataset. It establishes a clear financial baseline for the churn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sought out to answer a critical question: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segments are driving the majority of this financial loss?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954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D212-089D-5F45-5858-D1FD58A4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83" y="16794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Frequent Churners Are not the Most Costly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EE93-F045-25F9-8AC7-02C885A95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01759" cy="188275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surface-level look at churn volume points to Basic plan subscribers. However, a financial analysis reveals that Premium subscribers , despite churning in smaller numbers, are responsible for the largest proportion of revenue loss.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DC0224-CB89-7052-CE77-211C1BE02A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988981"/>
              </p:ext>
            </p:extLst>
          </p:nvPr>
        </p:nvGraphicFramePr>
        <p:xfrm>
          <a:off x="833583" y="2465408"/>
          <a:ext cx="4960716" cy="329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5A98F9B-0538-552E-F2C7-D45C004534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6228445"/>
              </p:ext>
            </p:extLst>
          </p:nvPr>
        </p:nvGraphicFramePr>
        <p:xfrm>
          <a:off x="6096000" y="2632065"/>
          <a:ext cx="5262417" cy="3132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C352AB-B7B1-7C91-D4AA-2517B4E3789E}"/>
              </a:ext>
            </a:extLst>
          </p:cNvPr>
          <p:cNvSpPr txBox="1"/>
          <p:nvPr/>
        </p:nvSpPr>
        <p:spPr>
          <a:xfrm>
            <a:off x="925975" y="5764192"/>
            <a:ext cx="10336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suggest that retention efforts should be strategically focused on the high-value Premium segment to maximize financial impact.</a:t>
            </a:r>
          </a:p>
        </p:txBody>
      </p:sp>
    </p:spTree>
    <p:extLst>
      <p:ext uri="{BB962C8B-B14F-4D97-AF65-F5344CB8AC3E}">
        <p14:creationId xmlns:p14="http://schemas.microsoft.com/office/powerpoint/2010/main" val="244935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9F4B-1224-AB85-B8A2-6F890BA5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Ruling Out Common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C5D5D-8044-34E7-EF71-B2E1D7AD8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5461" cy="85970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step was to determine if this churn was caused by external factors like device performance or regional issues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AE41160-60EF-FA28-E5AE-821274D0D1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9216061"/>
              </p:ext>
            </p:extLst>
          </p:nvPr>
        </p:nvGraphicFramePr>
        <p:xfrm>
          <a:off x="6921660" y="23496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422EDF0-451F-1C67-F105-3CCC87A5B9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1553864"/>
              </p:ext>
            </p:extLst>
          </p:nvPr>
        </p:nvGraphicFramePr>
        <p:xfrm>
          <a:off x="370390" y="23496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9706A7-D4FC-8001-503D-8A8FFF8B6816}"/>
              </a:ext>
            </a:extLst>
          </p:cNvPr>
          <p:cNvSpPr txBox="1"/>
          <p:nvPr/>
        </p:nvSpPr>
        <p:spPr>
          <a:xfrm>
            <a:off x="0" y="4920166"/>
            <a:ext cx="4074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no correlation with geographic region.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BE149E-1174-A665-2182-DE869908052C}"/>
              </a:ext>
            </a:extLst>
          </p:cNvPr>
          <p:cNvSpPr txBox="1"/>
          <p:nvPr/>
        </p:nvSpPr>
        <p:spPr>
          <a:xfrm>
            <a:off x="6790479" y="4920165"/>
            <a:ext cx="4074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shows no correlation with device type.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8E622-493D-4D3D-6ACD-34FFA065E177}"/>
              </a:ext>
            </a:extLst>
          </p:cNvPr>
          <p:cNvSpPr txBox="1"/>
          <p:nvPr/>
        </p:nvSpPr>
        <p:spPr>
          <a:xfrm>
            <a:off x="838199" y="5798916"/>
            <a:ext cx="106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cause is not technical or regional, the analysis shifted to customer behavior.</a:t>
            </a:r>
          </a:p>
        </p:txBody>
      </p:sp>
    </p:spTree>
    <p:extLst>
      <p:ext uri="{BB962C8B-B14F-4D97-AF65-F5344CB8AC3E}">
        <p14:creationId xmlns:p14="http://schemas.microsoft.com/office/powerpoint/2010/main" val="359384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253F-82F6-CC7F-3D8B-5C33E42E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Disengagement is the single Strongest Predictor of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0D3E6-8A39-F3AF-A22C-BCF8C34E4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3334" cy="114906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uncovered a dramatic difference in behavior between retained and churned.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users. The data is unequivocal: churn is preceded by a near-total drop in platform engagement.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7997C9-B633-B7C1-E23D-9DBB931A7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74018"/>
              </p:ext>
            </p:extLst>
          </p:nvPr>
        </p:nvGraphicFramePr>
        <p:xfrm>
          <a:off x="3028335" y="2974694"/>
          <a:ext cx="5997677" cy="105120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96679">
                  <a:extLst>
                    <a:ext uri="{9D8B030D-6E8A-4147-A177-3AD203B41FA5}">
                      <a16:colId xmlns:a16="http://schemas.microsoft.com/office/drawing/2014/main" val="3948190858"/>
                    </a:ext>
                  </a:extLst>
                </a:gridCol>
                <a:gridCol w="1622936">
                  <a:extLst>
                    <a:ext uri="{9D8B030D-6E8A-4147-A177-3AD203B41FA5}">
                      <a16:colId xmlns:a16="http://schemas.microsoft.com/office/drawing/2014/main" val="375757650"/>
                    </a:ext>
                  </a:extLst>
                </a:gridCol>
                <a:gridCol w="1464598">
                  <a:extLst>
                    <a:ext uri="{9D8B030D-6E8A-4147-A177-3AD203B41FA5}">
                      <a16:colId xmlns:a16="http://schemas.microsoft.com/office/drawing/2014/main" val="2417715094"/>
                    </a:ext>
                  </a:extLst>
                </a:gridCol>
                <a:gridCol w="1713464">
                  <a:extLst>
                    <a:ext uri="{9D8B030D-6E8A-4147-A177-3AD203B41FA5}">
                      <a16:colId xmlns:a16="http://schemas.microsoft.com/office/drawing/2014/main" val="3495583369"/>
                    </a:ext>
                  </a:extLst>
                </a:gridCol>
              </a:tblGrid>
              <a:tr h="2017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Subscription Type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(All)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9862116"/>
                  </a:ext>
                </a:extLst>
              </a:tr>
              <a:tr h="1657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3821829"/>
                  </a:ext>
                </a:extLst>
              </a:tr>
              <a:tr h="232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Last Login Days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Watch Hours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Daily Watch Time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49428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21.77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17.45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279612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01373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43176B-5D3F-5CE9-BE9B-FE636404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35769"/>
              </p:ext>
            </p:extLst>
          </p:nvPr>
        </p:nvGraphicFramePr>
        <p:xfrm>
          <a:off x="3028335" y="4184369"/>
          <a:ext cx="5997677" cy="9906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33662">
                  <a:extLst>
                    <a:ext uri="{9D8B030D-6E8A-4147-A177-3AD203B41FA5}">
                      <a16:colId xmlns:a16="http://schemas.microsoft.com/office/drawing/2014/main" val="1761449168"/>
                    </a:ext>
                  </a:extLst>
                </a:gridCol>
                <a:gridCol w="1580627">
                  <a:extLst>
                    <a:ext uri="{9D8B030D-6E8A-4147-A177-3AD203B41FA5}">
                      <a16:colId xmlns:a16="http://schemas.microsoft.com/office/drawing/2014/main" val="3674662373"/>
                    </a:ext>
                  </a:extLst>
                </a:gridCol>
                <a:gridCol w="1452121">
                  <a:extLst>
                    <a:ext uri="{9D8B030D-6E8A-4147-A177-3AD203B41FA5}">
                      <a16:colId xmlns:a16="http://schemas.microsoft.com/office/drawing/2014/main" val="1400982964"/>
                    </a:ext>
                  </a:extLst>
                </a:gridCol>
                <a:gridCol w="1731267">
                  <a:extLst>
                    <a:ext uri="{9D8B030D-6E8A-4147-A177-3AD203B41FA5}">
                      <a16:colId xmlns:a16="http://schemas.microsoft.com/office/drawing/2014/main" val="9845105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Subscription Type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30591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69518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Last Login Days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Watch Hours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Daily Watch Time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08578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16.42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85046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29572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111775-6CD1-D66B-345A-E89DFF8C5F44}"/>
              </a:ext>
            </a:extLst>
          </p:cNvPr>
          <p:cNvSpPr txBox="1"/>
          <p:nvPr/>
        </p:nvSpPr>
        <p:spPr>
          <a:xfrm>
            <a:off x="925975" y="5683170"/>
            <a:ext cx="10427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significant drop in daily watch time is the critical warning sign. This behavioral flag is the key to proactively identifying at-risk customers.</a:t>
            </a:r>
          </a:p>
        </p:txBody>
      </p:sp>
    </p:spTree>
    <p:extLst>
      <p:ext uri="{BB962C8B-B14F-4D97-AF65-F5344CB8AC3E}">
        <p14:creationId xmlns:p14="http://schemas.microsoft.com/office/powerpoint/2010/main" val="163852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4CBB-2F49-85EA-5E29-383A21AB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Recommended Three-Tiered Retention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89E9-2B2D-5CE0-D6B3-7A14EF78D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2820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findings, a targeted, multi-layered retention strategy is recommended. This approach allows for tailored interventions based on a user’s specific level of disengagement.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7714DE-54E4-B079-3A74-6976E1FB9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75308"/>
              </p:ext>
            </p:extLst>
          </p:nvPr>
        </p:nvGraphicFramePr>
        <p:xfrm>
          <a:off x="1396357" y="2753680"/>
          <a:ext cx="939928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831">
                  <a:extLst>
                    <a:ext uri="{9D8B030D-6E8A-4147-A177-3AD203B41FA5}">
                      <a16:colId xmlns:a16="http://schemas.microsoft.com/office/drawing/2014/main" val="1637391185"/>
                    </a:ext>
                  </a:extLst>
                </a:gridCol>
                <a:gridCol w="3108245">
                  <a:extLst>
                    <a:ext uri="{9D8B030D-6E8A-4147-A177-3AD203B41FA5}">
                      <a16:colId xmlns:a16="http://schemas.microsoft.com/office/drawing/2014/main" val="1046665631"/>
                    </a:ext>
                  </a:extLst>
                </a:gridCol>
                <a:gridCol w="2705644">
                  <a:extLst>
                    <a:ext uri="{9D8B030D-6E8A-4147-A177-3AD203B41FA5}">
                      <a16:colId xmlns:a16="http://schemas.microsoft.com/office/drawing/2014/main" val="3811222461"/>
                    </a:ext>
                  </a:extLst>
                </a:gridCol>
                <a:gridCol w="2359566">
                  <a:extLst>
                    <a:ext uri="{9D8B030D-6E8A-4147-A177-3AD203B41FA5}">
                      <a16:colId xmlns:a16="http://schemas.microsoft.com/office/drawing/2014/main" val="2992652590"/>
                    </a:ext>
                  </a:extLst>
                </a:gridCol>
              </a:tblGrid>
              <a:tr h="486261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Proactive Re-engagement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Engagement Nurturing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Risk Intervention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8251"/>
                  </a:ext>
                </a:extLst>
              </a:tr>
              <a:tr h="83930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users inactive for 25+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users whose average daily watch time drops below 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users meeting both at-risk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22517"/>
                  </a:ext>
                </a:extLst>
              </a:tr>
              <a:tr h="83930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personalized “We Miss You” email campaign showcasing new content tailor to their known favorite 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automated workflow to surface new, relevant content via in-app notifications.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high-value retention offer (e.g., a discount) to prevent almost certain churn.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269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43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C24E-3BB6-B218-047E-CA17E448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357"/>
            <a:ext cx="10967977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Potential Return 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328D1-2782-58AC-8E71-64AC37F16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4906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this targeted strategy, Netflix could see a significant financial return by preventing the loss of its highest-value customers.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24302-3A32-0B1B-EC16-DEEBFC544FE1}"/>
              </a:ext>
            </a:extLst>
          </p:cNvPr>
          <p:cNvSpPr txBox="1"/>
          <p:nvPr/>
        </p:nvSpPr>
        <p:spPr>
          <a:xfrm>
            <a:off x="2646744" y="2513701"/>
            <a:ext cx="689851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“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15% reduction in Premium churn…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Calculation: $13,312   X   0.15  =  $1,996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“…could potentially recover 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$2,000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Monthly Revenue, which would translate to 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$24,000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additional annual revenue.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50371-8C24-D301-C1A4-CF52959ECA94}"/>
              </a:ext>
            </a:extLst>
          </p:cNvPr>
          <p:cNvSpPr txBox="1"/>
          <p:nvPr/>
        </p:nvSpPr>
        <p:spPr>
          <a:xfrm>
            <a:off x="838200" y="5756322"/>
            <a:ext cx="1023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data-driven approach ensures that retention resources are invested with the highest possible ROI.</a:t>
            </a:r>
          </a:p>
        </p:txBody>
      </p:sp>
    </p:spTree>
    <p:extLst>
      <p:ext uri="{BB962C8B-B14F-4D97-AF65-F5344CB8AC3E}">
        <p14:creationId xmlns:p14="http://schemas.microsoft.com/office/powerpoint/2010/main" val="181119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EA64-FEE1-7E3F-322C-0B083D2E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Suggested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1C86-EDB8-093B-7C9E-226A4926C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718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capitalize on these insights, the following actions are recommended for consideration: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56F46-F724-1EE5-AA01-334BF26DA3CF}"/>
              </a:ext>
            </a:extLst>
          </p:cNvPr>
          <p:cNvSpPr txBox="1"/>
          <p:nvPr/>
        </p:nvSpPr>
        <p:spPr>
          <a:xfrm>
            <a:off x="2108521" y="2522738"/>
            <a:ext cx="79749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the Premium Segment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strategies on high-value Premium subscribers, where the financial impact is greatest.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Behavioral Monitoring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internal flags to actively monitor for the identified “low engagement” and “inactive” triggers.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a Targeted Campaign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proposed re-engagement and intervention strategies on a small cohort of at-risk users to validate their effectiveness before a full-scale rollout.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8AB4B80C-4916-C188-5DDD-DB56D7D4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521" y="2372810"/>
            <a:ext cx="547186" cy="547186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5F469B7A-29E9-83A8-18C0-D83140791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521" y="3473654"/>
            <a:ext cx="547186" cy="547186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E6D6EF25-A8C2-C195-0125-A6B779EC7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521" y="4589248"/>
            <a:ext cx="547186" cy="54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8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D8057-C490-1D38-6279-10AB4798E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time.</a:t>
            </a:r>
          </a:p>
        </p:txBody>
      </p:sp>
      <p:pic>
        <p:nvPicPr>
          <p:cNvPr id="5" name="Graphic 4" descr="Handshake with solid fill">
            <a:extLst>
              <a:ext uri="{FF2B5EF4-FFF2-40B4-BE49-F238E27FC236}">
                <a16:creationId xmlns:a16="http://schemas.microsoft.com/office/drawing/2014/main" id="{FF07B435-5D3A-DE0E-058F-1F81B8CF1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2401" y="2125401"/>
            <a:ext cx="2607197" cy="26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2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Cracking the Churn Code</vt:lpstr>
      <vt:lpstr>Quantifying the Financial Impact of Churn</vt:lpstr>
      <vt:lpstr>The Most Frequent Churners Are not the Most Costly</vt:lpstr>
      <vt:lpstr>Ruling Out Common Factors</vt:lpstr>
      <vt:lpstr>Disengagement is the single Strongest Predictor of Churn</vt:lpstr>
      <vt:lpstr>A Recommended Three-Tiered Retention Strategy</vt:lpstr>
      <vt:lpstr>Estimating The Potential Return on Investment</vt:lpstr>
      <vt:lpstr>Recommendations &amp; Suggested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Wesley Omoke</dc:creator>
  <cp:lastModifiedBy>Wesley Omoke</cp:lastModifiedBy>
  <cp:revision>1</cp:revision>
  <dcterms:created xsi:type="dcterms:W3CDTF">2025-07-11T04:19:08Z</dcterms:created>
  <dcterms:modified xsi:type="dcterms:W3CDTF">2025-07-11T04:20:08Z</dcterms:modified>
</cp:coreProperties>
</file>