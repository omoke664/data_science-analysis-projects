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79E83-0BAA-0043-C30B-C046A1155B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EDA172-44D6-87C3-2F8D-87057EA2D2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F97671-91CE-74D6-C413-5E7D0F596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6DB0C-2655-496E-A6CC-2C8FE43087CA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352D6B-2DD5-AF46-EE4A-086393A55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3EB3D5-8E97-AC42-B228-BCC4E855C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ADCC7-A751-4D17-938F-56A822E067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732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5DA1D-B3A7-14EA-ABFF-6869E1CB5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20CE0-FF25-3ADD-8A1A-1907E0709A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5100C8-5508-0C54-0690-43BFDE9A2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6DB0C-2655-496E-A6CC-2C8FE43087CA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A8029B-209E-7D4B-2D21-5FB4F0B95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1D2B3D-9D78-8CC6-AAA0-6430EDA6E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ADCC7-A751-4D17-938F-56A822E067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564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EA3AA-F9A4-DB05-B5CE-D345D54A8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F26EA8-1E35-CC17-D2C9-51D91E1C62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38F66-52DD-7482-D87D-9F861D54E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6DB0C-2655-496E-A6CC-2C8FE43087CA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E4EABA-468C-96DE-DB1D-2C7507920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BC4266-CF68-B83C-75C9-46ACFEF71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ADCC7-A751-4D17-938F-56A822E067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554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0A9CA-4E2D-27DD-29DA-7264A205D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B12C4A-D1D5-8DF3-F617-EBE32109A4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4D77E2-6FF0-6B62-E46A-DBAE96A802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219ADE-9ABF-1D41-1821-9BF605925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6DB0C-2655-496E-A6CC-2C8FE43087CA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A29539-9A02-E7A9-D2E7-8CE807E79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8671DA-AE7F-D491-BE41-3BF705F2B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ADCC7-A751-4D17-938F-56A822E067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052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A2B14-F75D-33B2-6F08-08D11377A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EADF98-34DC-0855-73CC-C8DC87E1E0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5CAB66-17EE-A20F-4480-1150127FB1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AF76F2-1B42-A922-CCE0-F941816162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06D013-2F48-4D89-6704-E5836B1BF4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E9BFB7-22DE-7A81-9458-8A898ABF3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6DB0C-2655-496E-A6CC-2C8FE43087CA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C32CD1-F31A-B45C-9D5B-FA1375C94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359074-32D4-480A-A6A5-B2988D514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ADCC7-A751-4D17-938F-56A822E067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132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6C65A-00FC-C4BB-A744-0DE50B18A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B145A1-1283-39B5-A0D8-BA17F571D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6DB0C-2655-496E-A6CC-2C8FE43087CA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4BF90D-2078-8E2E-E0AB-6C2D8F975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20DAC8-7581-BE76-FC3E-21B464B83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ADCC7-A751-4D17-938F-56A822E067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300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D78C73-668E-B342-4B5F-2EF1EA65C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6DB0C-2655-496E-A6CC-2C8FE43087CA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704BED-D884-7F53-065E-7FEA138E5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FB74D4-3863-154E-9587-110656F3C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ADCC7-A751-4D17-938F-56A822E067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1107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57672-DBAB-669F-83B9-2C4BC3CC1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D81C14-F423-16A4-C0D1-B51FD40B67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B23690-D2B3-6F3E-7F6B-D87D77181E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59CABD-5C83-FF78-1AEA-FBB73156E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6DB0C-2655-496E-A6CC-2C8FE43087CA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EFB7E6-F0F7-33E3-802C-E0551B1C3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9167ED-D2A2-4452-2FF0-F6551D24B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ADCC7-A751-4D17-938F-56A822E067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788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701D6-6EB2-1423-A25B-226703135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4A3ED4-A4C8-F9A1-8FD4-CBC8B5F34C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6504D9-BAD1-33F5-63A2-1FD33F4EC7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AE1861-411A-D5F3-A24B-ADCEACC79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6DB0C-2655-496E-A6CC-2C8FE43087CA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59C896-6478-B342-AFDC-337904949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4BA839-61DC-7450-CF86-DE8D9C734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ADCC7-A751-4D17-938F-56A822E067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2911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12D51-C202-C815-DF76-294D29E3A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78D106-CAE5-7F5A-7DBF-45895949F0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69B061-31F3-6B80-A3D2-05C54FE10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6DB0C-2655-496E-A6CC-2C8FE43087CA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FD1D50-66E7-C038-E648-CCA0E93C7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4F8241-5EC7-7DF3-34D2-5C459861C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ADCC7-A751-4D17-938F-56A822E067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299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449BA8-F455-4C90-49D8-0218B7950B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86F754-2769-460C-7E46-FA0FDB31D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02061E-22C4-D1D7-AE50-A369ED867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6DB0C-2655-496E-A6CC-2C8FE43087CA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D8D01B-51E5-228F-6623-2B1D46F33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DC4D5-4BD4-9E6E-0605-B1965BF60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ADCC7-A751-4D17-938F-56A822E067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216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CA008D-8952-EB32-1349-FB5255895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8926C6-077D-3FDF-6104-856D603127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DAA066-C520-18DB-52F2-F166AE96F5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E6DB0C-2655-496E-A6CC-2C8FE43087CA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2331B3-092F-9DB5-BC99-0B9B074CE8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14BA3D-37F4-EE42-9FC2-3BC7E636A9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9ADCC7-A751-4D17-938F-56A822E067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117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916B3-67DE-B4EA-C05E-C0E4DD7250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Personality and Social Psychology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F800CB-BD94-2E2F-B049-D391FAE854C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Exploratory Data Analysis and Insights</a:t>
            </a:r>
          </a:p>
          <a:p>
            <a:endParaRPr lang="en-US" dirty="0"/>
          </a:p>
          <a:p>
            <a:r>
              <a:rPr lang="en-US" dirty="0"/>
              <a:t>Wesley Omoke</a:t>
            </a:r>
          </a:p>
          <a:p>
            <a:r>
              <a:rPr lang="en-US" dirty="0"/>
              <a:t>6/21/2025</a:t>
            </a:r>
          </a:p>
        </p:txBody>
      </p:sp>
    </p:spTree>
    <p:extLst>
      <p:ext uri="{BB962C8B-B14F-4D97-AF65-F5344CB8AC3E}">
        <p14:creationId xmlns:p14="http://schemas.microsoft.com/office/powerpoint/2010/main" val="26549530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2BFA1-B54E-8998-72FE-FE5B69EDD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and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F68E9-1E95-F194-245D-1A19B9E6D3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r>
              <a:rPr lang="en-US" dirty="0"/>
              <a:t>This dataset contains various social and personality traits of individuals, aiming to distinguish between Introverts and Extroverts.</a:t>
            </a:r>
          </a:p>
          <a:p>
            <a:r>
              <a:rPr lang="en-US" dirty="0"/>
              <a:t>With that in mind, I aim to:</a:t>
            </a:r>
          </a:p>
          <a:p>
            <a:pPr lvl="1"/>
            <a:r>
              <a:rPr lang="en-US" dirty="0"/>
              <a:t>Explore the data.</a:t>
            </a:r>
          </a:p>
          <a:p>
            <a:pPr lvl="1"/>
            <a:r>
              <a:rPr lang="en-US" dirty="0"/>
              <a:t>Understand feature relationships.</a:t>
            </a:r>
          </a:p>
          <a:p>
            <a:pPr lvl="1"/>
            <a:r>
              <a:rPr lang="en-US" dirty="0"/>
              <a:t>Identify key predictors of personality type.</a:t>
            </a:r>
          </a:p>
        </p:txBody>
      </p:sp>
    </p:spTree>
    <p:extLst>
      <p:ext uri="{BB962C8B-B14F-4D97-AF65-F5344CB8AC3E}">
        <p14:creationId xmlns:p14="http://schemas.microsoft.com/office/powerpoint/2010/main" val="33491502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61E2F-1617-3AB2-2CB1-B3F2AC018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0346"/>
            <a:ext cx="10515600" cy="1325563"/>
          </a:xfrm>
        </p:spPr>
        <p:txBody>
          <a:bodyPr/>
          <a:lstStyle/>
          <a:p>
            <a:r>
              <a:rPr lang="en-US" dirty="0"/>
              <a:t>Data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B590EE-2A0C-20C0-82F5-5A89C0C8CC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465" y="1253331"/>
            <a:ext cx="11582400" cy="3584140"/>
          </a:xfrm>
        </p:spPr>
        <p:txBody>
          <a:bodyPr>
            <a:normAutofit/>
          </a:bodyPr>
          <a:lstStyle/>
          <a:p>
            <a:r>
              <a:rPr lang="en-US" dirty="0"/>
              <a:t>Dataset size: The dataset consists of 2477 rows, and 8 columns after cleaning.</a:t>
            </a:r>
          </a:p>
          <a:p>
            <a:r>
              <a:rPr lang="en-US" dirty="0"/>
              <a:t>The features represented in the 8 columns are:</a:t>
            </a:r>
          </a:p>
          <a:p>
            <a:pPr lvl="1"/>
            <a:r>
              <a:rPr lang="en-US" sz="1800" dirty="0" err="1"/>
              <a:t>Time_spent_Alone</a:t>
            </a:r>
            <a:r>
              <a:rPr lang="en-US" sz="1800" dirty="0"/>
              <a:t> (numeric)</a:t>
            </a:r>
          </a:p>
          <a:p>
            <a:pPr lvl="1"/>
            <a:r>
              <a:rPr lang="en-US" sz="1800" dirty="0" err="1"/>
              <a:t>Stage_fear</a:t>
            </a:r>
            <a:r>
              <a:rPr lang="en-US" sz="1800" dirty="0"/>
              <a:t> (Yes / No)</a:t>
            </a:r>
          </a:p>
          <a:p>
            <a:pPr lvl="1"/>
            <a:r>
              <a:rPr lang="en-US" sz="1800" dirty="0" err="1"/>
              <a:t>Social_event_attendance</a:t>
            </a:r>
            <a:r>
              <a:rPr lang="en-US" sz="1800" dirty="0"/>
              <a:t> (numeric)</a:t>
            </a:r>
          </a:p>
          <a:p>
            <a:pPr lvl="1"/>
            <a:r>
              <a:rPr lang="en-US" sz="1800" dirty="0" err="1"/>
              <a:t>Going_outside</a:t>
            </a:r>
            <a:r>
              <a:rPr lang="en-US" sz="1800" dirty="0"/>
              <a:t> (numeric)</a:t>
            </a:r>
          </a:p>
          <a:p>
            <a:pPr lvl="1"/>
            <a:r>
              <a:rPr lang="en-US" sz="1800" dirty="0" err="1"/>
              <a:t>Drained_after_socializing</a:t>
            </a:r>
            <a:r>
              <a:rPr lang="en-US" sz="1800" dirty="0"/>
              <a:t> (Yes / No)</a:t>
            </a:r>
          </a:p>
          <a:p>
            <a:pPr lvl="1"/>
            <a:r>
              <a:rPr lang="en-US" sz="1800" dirty="0"/>
              <a:t>Friends-</a:t>
            </a:r>
            <a:r>
              <a:rPr lang="en-US" sz="1800" dirty="0" err="1"/>
              <a:t>circle_size</a:t>
            </a:r>
            <a:r>
              <a:rPr lang="en-US" sz="1800" dirty="0"/>
              <a:t> (numeric)</a:t>
            </a:r>
          </a:p>
          <a:p>
            <a:pPr lvl="1"/>
            <a:r>
              <a:rPr lang="en-US" sz="1800" dirty="0" err="1"/>
              <a:t>Post_frequency</a:t>
            </a:r>
            <a:r>
              <a:rPr lang="en-US" sz="1800" dirty="0"/>
              <a:t> (numeric)</a:t>
            </a:r>
          </a:p>
          <a:p>
            <a:pPr lvl="1"/>
            <a:r>
              <a:rPr lang="en-US" sz="1800" dirty="0"/>
              <a:t>Personality (target :Introvert / Extrovert)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69A3BA-78CF-28BF-23DD-2A86A10C81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209" y="4939038"/>
            <a:ext cx="10173582" cy="1699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6495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5BFE0-8F3D-B1F9-E5BA-ECCBBAB71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Cleaning and Preparation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BC0E11-4DB0-880F-DCBA-BCC379565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8923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86C42-3980-DA0D-1494-FC7318184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Balance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C5BA99-7846-4280-3AE9-A617890007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28411" cy="4351338"/>
          </a:xfrm>
        </p:spPr>
        <p:txBody>
          <a:bodyPr/>
          <a:lstStyle/>
          <a:p>
            <a:r>
              <a:rPr lang="en-US" dirty="0"/>
              <a:t>There seems to be a class balance between the proportion of individuals classified as Introverts (48.56%) and Extroverts (51.43%).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125CFA0-35EB-2C09-E574-5DA4946DED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442" y="1682750"/>
            <a:ext cx="5334000" cy="481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0682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CE601-DB65-E0E7-FC78-2D3393C7B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Exploratory 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42F415-6749-6D41-77CD-F96E93841D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102768" cy="4414754"/>
          </a:xfrm>
        </p:spPr>
        <p:txBody>
          <a:bodyPr>
            <a:normAutofit/>
          </a:bodyPr>
          <a:lstStyle/>
          <a:p>
            <a:r>
              <a:rPr lang="en-US" dirty="0"/>
              <a:t>Do Introverts Spend more time alone than extroverts?</a:t>
            </a:r>
          </a:p>
          <a:p>
            <a:r>
              <a:rPr lang="en-US" dirty="0"/>
              <a:t>Average Time Spent Alone</a:t>
            </a:r>
          </a:p>
          <a:p>
            <a:pPr lvl="1"/>
            <a:r>
              <a:rPr lang="en-US" dirty="0"/>
              <a:t>Introverts – 7 hours</a:t>
            </a:r>
          </a:p>
          <a:p>
            <a:pPr lvl="1"/>
            <a:r>
              <a:rPr lang="en-US" dirty="0"/>
              <a:t>Extroverts – 2 hours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177548-1DA7-9FDA-0077-82BAF16379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3474" y="1430254"/>
            <a:ext cx="6801852" cy="481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6989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2A603-5B19-8CD9-FA5B-FF2004D3B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Are Introverts More Likely To Experience Stage-Fright as Compared To Extroverts?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C3D14B-13AD-F59F-4137-9A6186EAE7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20916" cy="4351338"/>
          </a:xfrm>
        </p:spPr>
        <p:txBody>
          <a:bodyPr/>
          <a:lstStyle/>
          <a:p>
            <a:r>
              <a:rPr lang="en-US" dirty="0"/>
              <a:t>According to our dataset:</a:t>
            </a:r>
          </a:p>
          <a:p>
            <a:pPr lvl="1"/>
            <a:r>
              <a:rPr lang="en-US" dirty="0"/>
              <a:t>Over 93.6% of Introverts are likely to experience stage-fright.</a:t>
            </a:r>
          </a:p>
          <a:p>
            <a:pPr lvl="1"/>
            <a:r>
              <a:rPr lang="en-US" dirty="0"/>
              <a:t>Only 8.5% of Extroverts are likely to experience stage-fright.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53C767-D653-4F76-DC44-B76FDA1249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843088"/>
            <a:ext cx="5534025" cy="433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6213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90FCE-8351-CD65-0D8F-2625D7099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is the likelihood of each group spending time indoors or outdoors?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90056-9CF5-7661-6D6E-3C1502C437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43400" cy="4351338"/>
          </a:xfrm>
        </p:spPr>
        <p:txBody>
          <a:bodyPr/>
          <a:lstStyle/>
          <a:p>
            <a:r>
              <a:rPr lang="en-US" dirty="0"/>
              <a:t>According to our data, Extroverts are over 3 times more likely to go outside on average as compared to introverts.</a:t>
            </a:r>
          </a:p>
          <a:p>
            <a:r>
              <a:rPr lang="en-US" dirty="0"/>
              <a:t>Average Likelihood to Spend Time Outdoors:</a:t>
            </a:r>
          </a:p>
          <a:p>
            <a:pPr lvl="1"/>
            <a:r>
              <a:rPr lang="en-US" b="1" dirty="0"/>
              <a:t>Extrovert: 4.62</a:t>
            </a:r>
          </a:p>
          <a:p>
            <a:pPr lvl="1"/>
            <a:r>
              <a:rPr lang="en-US" b="1" dirty="0"/>
              <a:t>Introvert: 1.31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ED43D91-F367-0AD5-2030-BC38E340A5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690689"/>
            <a:ext cx="6281737" cy="4945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4390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13506-8DA5-6184-A26D-D741FCAB6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Average Likelihood For Each Group To Attend Social Events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FDD91C-94D2-1A9D-7E8E-33E943E375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04884" cy="1325563"/>
          </a:xfrm>
        </p:spPr>
        <p:txBody>
          <a:bodyPr/>
          <a:lstStyle/>
          <a:p>
            <a:r>
              <a:rPr lang="en-US" dirty="0"/>
              <a:t>From the distribution chart, we can see that most introverts indicated that they are unlikely to attend social events and their numbers drop as the scale moves from 0 to 10 while extroverts exhibit the contrary.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01172F-D929-C97A-BB7E-8F2EC832C0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916" y="3015916"/>
            <a:ext cx="11494168" cy="3630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8323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9912A-1646-B603-BE24-A3EB85A49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Emotional Well-being After Social Interaction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3EC3AA-51B9-0BA7-E926-1E7375C2F4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199022" cy="4174122"/>
          </a:xfrm>
        </p:spPr>
        <p:txBody>
          <a:bodyPr>
            <a:normAutofit/>
          </a:bodyPr>
          <a:lstStyle/>
          <a:p>
            <a:r>
              <a:rPr lang="en-US" dirty="0"/>
              <a:t>According to our dataset, Introverts tend to feel more drained after social interaction with over 93.6% of Introverts  saying yes and only about 8.5% of extroverts reporting to having felt drained after social interaction.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8BDB94-9C95-A569-6DA0-8770EABE04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3684" y="1825625"/>
            <a:ext cx="6509084" cy="4174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7404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D416F-DE8D-A062-7CF1-715BB2536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Friends Circle Size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97D391-D494-B13F-F591-DD573FBF47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9364579" cy="4351338"/>
          </a:xfrm>
        </p:spPr>
        <p:txBody>
          <a:bodyPr/>
          <a:lstStyle/>
          <a:p>
            <a:r>
              <a:rPr lang="en-US" dirty="0"/>
              <a:t>Introverts tend to have around 3 close friends on average, while extroverts could have around 9 close friends.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6F6C3E-7BCC-3E62-D687-384E250AEA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6947" y="2791326"/>
            <a:ext cx="6593306" cy="3701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5075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B2DB5-B89E-7BCD-920C-6A1CC3D4E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Post Frequency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FB4024-1540-D81B-067F-852FD880D7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605" y="1231900"/>
            <a:ext cx="10968789" cy="917575"/>
          </a:xfrm>
        </p:spPr>
        <p:txBody>
          <a:bodyPr/>
          <a:lstStyle/>
          <a:p>
            <a:r>
              <a:rPr lang="en-US" dirty="0"/>
              <a:t>Introverts are far less likely to post frequently (around 1 time(s) out of 10) on social media as compared to extroverts ( 5 times out of 10).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635F1D-6078-F07B-3887-6FC74D4A11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0" y="2047875"/>
            <a:ext cx="7058526" cy="481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4057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CDC12-F3D5-2782-ECEA-F19023783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485" y="118192"/>
            <a:ext cx="10515600" cy="1325563"/>
          </a:xfrm>
        </p:spPr>
        <p:txBody>
          <a:bodyPr/>
          <a:lstStyle/>
          <a:p>
            <a:r>
              <a:rPr lang="en-US" dirty="0"/>
              <a:t>Correlation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0EE00FE-2559-D8AC-1181-09D7F58C2C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51835" y="1530657"/>
            <a:ext cx="4984759" cy="43513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90D03F5-A247-7104-2E55-BAC2AFED97D2}"/>
              </a:ext>
            </a:extLst>
          </p:cNvPr>
          <p:cNvSpPr txBox="1"/>
          <p:nvPr/>
        </p:nvSpPr>
        <p:spPr>
          <a:xfrm>
            <a:off x="147485" y="1356853"/>
            <a:ext cx="3441289" cy="4227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Strongest Positive Correlations (0.7 to 1.0):</a:t>
            </a:r>
          </a:p>
          <a:p>
            <a:r>
              <a:rPr lang="en-US" sz="1200" i="1" dirty="0" err="1"/>
              <a:t>Going_outside</a:t>
            </a:r>
            <a:r>
              <a:rPr lang="en-US" sz="1200" i="1" dirty="0"/>
              <a:t> and </a:t>
            </a:r>
            <a:r>
              <a:rPr lang="en-US" sz="1200" i="1" dirty="0" err="1"/>
              <a:t>Post_frequency</a:t>
            </a:r>
            <a:r>
              <a:rPr lang="en-US" sz="1200" i="1" dirty="0"/>
              <a:t> (0.77)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200" dirty="0"/>
              <a:t>This suggests that spend more time outdoors tend to post more on social media.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200" dirty="0"/>
              <a:t>This makes sense as more outdoor activities might lead to more content to share.</a:t>
            </a:r>
          </a:p>
          <a:p>
            <a:r>
              <a:rPr lang="en-US" sz="1200" i="1" dirty="0" err="1"/>
              <a:t>Social_event_attendance</a:t>
            </a:r>
            <a:r>
              <a:rPr lang="en-US" sz="1200" i="1" dirty="0"/>
              <a:t> and </a:t>
            </a:r>
            <a:r>
              <a:rPr lang="en-US" sz="1200" i="1" dirty="0" err="1"/>
              <a:t>Post_frequency</a:t>
            </a:r>
            <a:r>
              <a:rPr lang="en-US" sz="1200" i="1" dirty="0"/>
              <a:t> (0.75)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200" dirty="0"/>
              <a:t>People who attend more social events tend to post more frequently.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200" dirty="0"/>
              <a:t>This could indicate that social events provide content for social media posts.</a:t>
            </a:r>
          </a:p>
          <a:p>
            <a:r>
              <a:rPr lang="en-US" sz="1200" i="1" dirty="0" err="1"/>
              <a:t>Going_outside</a:t>
            </a:r>
            <a:r>
              <a:rPr lang="en-US" sz="1200" i="1" dirty="0"/>
              <a:t> and </a:t>
            </a:r>
            <a:r>
              <a:rPr lang="en-US" sz="1200" i="1" dirty="0" err="1"/>
              <a:t>Friends_circle_size</a:t>
            </a:r>
            <a:r>
              <a:rPr lang="en-US" sz="1200" i="1" dirty="0"/>
              <a:t> (0.74)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200" dirty="0"/>
              <a:t>People with larger friends' circles tend to go outside more.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200" dirty="0"/>
              <a:t>This suggests that social activities often involve outdoor gatherings.</a:t>
            </a:r>
          </a:p>
          <a:p>
            <a:r>
              <a:rPr lang="en-US" sz="1200" i="1" dirty="0" err="1"/>
              <a:t>Social_event_attendance</a:t>
            </a:r>
            <a:r>
              <a:rPr lang="en-US" sz="1200" i="1" dirty="0"/>
              <a:t> and </a:t>
            </a:r>
            <a:r>
              <a:rPr lang="en-US" sz="1200" i="1" dirty="0" err="1"/>
              <a:t>Friends_circle_size</a:t>
            </a:r>
            <a:r>
              <a:rPr lang="en-US" sz="1200" i="1" dirty="0"/>
              <a:t> (0.74)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200" dirty="0"/>
              <a:t>People with larger friends' circles attend more social events.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200" dirty="0"/>
              <a:t>This is a logical relationship as more friends typically means more social interactions.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C2E2FD-4F32-8706-05CE-DC77AACFFAB8}"/>
              </a:ext>
            </a:extLst>
          </p:cNvPr>
          <p:cNvSpPr txBox="1"/>
          <p:nvPr/>
        </p:nvSpPr>
        <p:spPr>
          <a:xfrm>
            <a:off x="8701547" y="1356853"/>
            <a:ext cx="3342967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Strongest Negative Correlations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200" i="1" dirty="0" err="1"/>
              <a:t>Time_spent_Alone</a:t>
            </a:r>
            <a:r>
              <a:rPr lang="en-US" sz="1200" i="1" dirty="0"/>
              <a:t> and </a:t>
            </a:r>
            <a:r>
              <a:rPr lang="en-US" sz="1200" i="1" dirty="0" err="1"/>
              <a:t>Going_outside</a:t>
            </a:r>
            <a:r>
              <a:rPr lang="en-US" sz="1200" i="1" dirty="0"/>
              <a:t> (-0.75): </a:t>
            </a:r>
            <a:r>
              <a:rPr lang="en-US" sz="1200" dirty="0"/>
              <a:t>People who spend more time alone tend to go outside less. This makes sense as going outside often involves social interaction.</a:t>
            </a:r>
          </a:p>
          <a:p>
            <a:r>
              <a:rPr lang="en-US" sz="1200" i="1" dirty="0" err="1"/>
              <a:t>Time_spent_Alone</a:t>
            </a:r>
            <a:r>
              <a:rPr lang="en-US" sz="1200" i="1" dirty="0"/>
              <a:t> and </a:t>
            </a:r>
            <a:r>
              <a:rPr lang="en-US" sz="1200" i="1" dirty="0" err="1"/>
              <a:t>Social_event_attendance</a:t>
            </a:r>
            <a:r>
              <a:rPr lang="en-US" sz="1200" i="1" dirty="0"/>
              <a:t> (-0.73): 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200" dirty="0"/>
              <a:t>People who spend more time alone attend fewer social events. This aligns with the introvert/extrovert personality spectrum.</a:t>
            </a:r>
          </a:p>
          <a:p>
            <a:r>
              <a:rPr lang="en-US" sz="1200" i="1" dirty="0" err="1"/>
              <a:t>Time_spent_Alone</a:t>
            </a:r>
            <a:r>
              <a:rPr lang="en-US" sz="1200" i="1" dirty="0"/>
              <a:t> and </a:t>
            </a:r>
            <a:r>
              <a:rPr lang="en-US" sz="1200" i="1" dirty="0" err="1"/>
              <a:t>Post_frequency</a:t>
            </a:r>
            <a:r>
              <a:rPr lang="en-US" sz="1200" i="1" dirty="0"/>
              <a:t> (-0.73):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200" dirty="0"/>
              <a:t>People who spend more time alone post less frequently on social media. This suggests that social media activity is related to social engagement.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F79BBC-1210-D3A4-CFEA-62481F3F3025}"/>
              </a:ext>
            </a:extLst>
          </p:cNvPr>
          <p:cNvSpPr txBox="1"/>
          <p:nvPr/>
        </p:nvSpPr>
        <p:spPr>
          <a:xfrm>
            <a:off x="68827" y="5758527"/>
            <a:ext cx="84557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The correlation matrix reveals a clear pattern of social behavior hence the features can be grouped into two main categories: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200" dirty="0"/>
              <a:t>Social engagement indicators (</a:t>
            </a:r>
            <a:r>
              <a:rPr lang="en-US" sz="1200" dirty="0" err="1"/>
              <a:t>Going_outside</a:t>
            </a:r>
            <a:r>
              <a:rPr lang="en-US" sz="1200" dirty="0"/>
              <a:t>, </a:t>
            </a:r>
            <a:r>
              <a:rPr lang="en-US" sz="1200" dirty="0" err="1"/>
              <a:t>Social_event_attendance</a:t>
            </a:r>
            <a:r>
              <a:rPr lang="en-US" sz="1200" dirty="0"/>
              <a:t>, </a:t>
            </a:r>
            <a:r>
              <a:rPr lang="en-US" sz="1200" dirty="0" err="1"/>
              <a:t>Friends_circle_size</a:t>
            </a:r>
            <a:r>
              <a:rPr lang="en-US" sz="1200" dirty="0"/>
              <a:t>, </a:t>
            </a:r>
            <a:r>
              <a:rPr lang="en-US" sz="1200" dirty="0" err="1"/>
              <a:t>Post_frequency</a:t>
            </a:r>
            <a:r>
              <a:rPr lang="en-US" sz="1200" dirty="0"/>
              <a:t>)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200" dirty="0"/>
              <a:t>Solitary behavior indicator (</a:t>
            </a:r>
            <a:r>
              <a:rPr lang="en-US" sz="1200" dirty="0" err="1"/>
              <a:t>Time_spent_Alone</a:t>
            </a:r>
            <a:r>
              <a:rPr lang="en-US" sz="1200" dirty="0"/>
              <a:t>)</a:t>
            </a:r>
          </a:p>
          <a:p>
            <a:r>
              <a:rPr lang="en-US" sz="1200" dirty="0"/>
              <a:t>All social engagement indicators are positively correlated with each other.</a:t>
            </a:r>
          </a:p>
          <a:p>
            <a:r>
              <a:rPr lang="en-US" sz="1200" dirty="0" err="1"/>
              <a:t>Time_spent_Alone</a:t>
            </a:r>
            <a:r>
              <a:rPr lang="en-US" sz="1200" dirty="0"/>
              <a:t> is negatively correlated with all social engagement indicators.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9F33B0-0DC5-B536-CFBC-003F3952BE91}"/>
              </a:ext>
            </a:extLst>
          </p:cNvPr>
          <p:cNvSpPr txBox="1"/>
          <p:nvPr/>
        </p:nvSpPr>
        <p:spPr>
          <a:xfrm>
            <a:off x="8248549" y="5158362"/>
            <a:ext cx="4012277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Implications for Personality Analysis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200" dirty="0"/>
              <a:t>The strong correlations support the validity of these features for personality classification.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200" dirty="0"/>
              <a:t>The negative correlations with </a:t>
            </a:r>
            <a:r>
              <a:rPr lang="en-US" sz="1200" dirty="0" err="1"/>
              <a:t>Time_spent_Alone</a:t>
            </a:r>
            <a:r>
              <a:rPr lang="en-US" sz="1200" dirty="0"/>
              <a:t> align with the introvert/extrovert spectrum.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200" dirty="0"/>
              <a:t>The positive correlations between social activities support the concept of social engagement as a personality trait.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18818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68DA5-A075-F3A4-60B9-709D500AF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852" y="128755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How Do These Correlations Differ Between Introverts and Extroverts?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18D47E-12EF-9F27-2B2F-920E06B24D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53030" y="5729876"/>
            <a:ext cx="6685935" cy="897910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buNone/>
            </a:pPr>
            <a:r>
              <a:rPr lang="en-US" sz="6400" dirty="0"/>
              <a:t>Introverts show stronger correlations between social behaviors </a:t>
            </a:r>
            <a:r>
              <a:rPr lang="en-US" sz="6400" i="1" dirty="0"/>
              <a:t>(0.60-0.68)</a:t>
            </a:r>
            <a:endParaRPr lang="en-US" sz="6400" dirty="0"/>
          </a:p>
          <a:p>
            <a:pPr marL="0" indent="0" algn="ctr">
              <a:buNone/>
            </a:pPr>
            <a:r>
              <a:rPr lang="en-US" sz="6400" dirty="0"/>
              <a:t>Extroverts show weaker correlations between social behaviors </a:t>
            </a:r>
            <a:r>
              <a:rPr lang="en-US" sz="6400" i="1" dirty="0"/>
              <a:t>(0.33-0.56)</a:t>
            </a:r>
            <a:endParaRPr lang="en-US" sz="6400" dirty="0"/>
          </a:p>
          <a:p>
            <a:pPr marL="0" indent="0" algn="ctr">
              <a:buNone/>
            </a:pPr>
            <a:r>
              <a:rPr lang="en-US" sz="6400" dirty="0"/>
              <a:t>This suggests that introverts' social behaviors are more tightly coupled together.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50CDBD-3A1A-21A0-8949-BC295D713F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3031" y="1737123"/>
            <a:ext cx="6685935" cy="370994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8FEC5C2-8C2B-63BF-090C-3FD30CB5B72F}"/>
              </a:ext>
            </a:extLst>
          </p:cNvPr>
          <p:cNvSpPr txBox="1"/>
          <p:nvPr/>
        </p:nvSpPr>
        <p:spPr>
          <a:xfrm>
            <a:off x="137652" y="1373329"/>
            <a:ext cx="2910348" cy="5601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Key Differences in Specific Relationships</a:t>
            </a:r>
          </a:p>
          <a:p>
            <a:r>
              <a:rPr lang="en-US" sz="1200" i="1" u="sng" dirty="0"/>
              <a:t>Social Event Attendance and Other Features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100" i="1" dirty="0"/>
              <a:t>Introverts: Stronger correlation (0.61-0.63)</a:t>
            </a:r>
            <a:endParaRPr lang="en-US" sz="1100" dirty="0"/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100" i="1" dirty="0"/>
              <a:t>Extroverts: Weaker correlation (0.39-0.41)</a:t>
            </a:r>
            <a:endParaRPr lang="en-US" sz="1100" dirty="0"/>
          </a:p>
          <a:p>
            <a:r>
              <a:rPr lang="en-US" sz="1200" dirty="0"/>
              <a:t>This suggests that for introverts, social event attendance is more closely tied to other social behaviors</a:t>
            </a:r>
          </a:p>
          <a:p>
            <a:r>
              <a:rPr lang="en-US" sz="1200" u="sng" dirty="0"/>
              <a:t>Going Outside and Post Frequency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200" i="1" dirty="0"/>
              <a:t>Introverts: 0.68 correlation</a:t>
            </a:r>
            <a:endParaRPr lang="en-US" sz="1200" dirty="0"/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200" i="1" dirty="0"/>
              <a:t>Extroverts: 0.44 correlation</a:t>
            </a:r>
          </a:p>
          <a:p>
            <a:r>
              <a:rPr lang="en-US" sz="1200" dirty="0"/>
              <a:t>This indicates that introverts' social media posting is more strongly related to their outdoor activities.</a:t>
            </a:r>
          </a:p>
          <a:p>
            <a:r>
              <a:rPr lang="en-US" sz="1200" u="sng" dirty="0"/>
              <a:t>Friends Circle Size and Social Event Attendance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200" i="1" dirty="0"/>
              <a:t>Introverts: 0.63 correlation</a:t>
            </a:r>
            <a:endParaRPr lang="en-US" sz="1200" dirty="0"/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200" i="1" dirty="0"/>
              <a:t>Extroverts: 0.41 correlation</a:t>
            </a:r>
          </a:p>
          <a:p>
            <a:r>
              <a:rPr lang="en-US" sz="1200" dirty="0"/>
              <a:t>This shows that introverts' social event attendance is more closely tied to their friend circle size.</a:t>
            </a:r>
          </a:p>
          <a:p>
            <a:r>
              <a:rPr lang="en-US" sz="1200" i="1" u="sng" dirty="0"/>
              <a:t>Time Spent Alone Relationships:</a:t>
            </a:r>
          </a:p>
          <a:p>
            <a:r>
              <a:rPr lang="en-US" sz="1200" dirty="0"/>
              <a:t>For both groups, </a:t>
            </a:r>
            <a:r>
              <a:rPr lang="en-US" sz="1200" dirty="0" err="1"/>
              <a:t>Time_spent_Alone</a:t>
            </a:r>
            <a:r>
              <a:rPr lang="en-US" sz="1200" dirty="0"/>
              <a:t> has a negative correlation with other features.</a:t>
            </a:r>
          </a:p>
          <a:p>
            <a:r>
              <a:rPr lang="en-US" sz="1200" dirty="0"/>
              <a:t>The correlations are slightly stronger for extroverts </a:t>
            </a:r>
            <a:r>
              <a:rPr lang="en-US" sz="1200" i="1" dirty="0"/>
              <a:t>(-0.48 to -0.56)</a:t>
            </a:r>
            <a:endParaRPr lang="en-US" sz="1200" dirty="0"/>
          </a:p>
          <a:p>
            <a:r>
              <a:rPr lang="en-US" sz="1200" dirty="0"/>
              <a:t>For introverts, the correlations are slightly weaker </a:t>
            </a:r>
            <a:r>
              <a:rPr lang="en-US" sz="1200" i="1" dirty="0"/>
              <a:t>(-0.42 to -0.48)</a:t>
            </a:r>
          </a:p>
          <a:p>
            <a:r>
              <a:rPr lang="en-US" sz="1200" dirty="0"/>
              <a:t>This suggest that the time spent alone has a more consistent impact on extroverts' social behaviors.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27C248-0582-4B00-6E5F-8F9DC2C5067E}"/>
              </a:ext>
            </a:extLst>
          </p:cNvPr>
          <p:cNvSpPr txBox="1"/>
          <p:nvPr/>
        </p:nvSpPr>
        <p:spPr>
          <a:xfrm>
            <a:off x="9497965" y="1059831"/>
            <a:ext cx="2694035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 Notable Differences</a:t>
            </a:r>
          </a:p>
          <a:p>
            <a:r>
              <a:rPr lang="en-US" sz="1200" dirty="0"/>
              <a:t>The largest difference is in the relationship between </a:t>
            </a:r>
            <a:r>
              <a:rPr lang="en-US" sz="1200" dirty="0" err="1"/>
              <a:t>Going_outside</a:t>
            </a:r>
            <a:r>
              <a:rPr lang="en-US" sz="1200" dirty="0"/>
              <a:t> and </a:t>
            </a:r>
            <a:r>
              <a:rPr lang="en-US" sz="1200" dirty="0" err="1"/>
              <a:t>Social_event_attendance</a:t>
            </a:r>
            <a:r>
              <a:rPr lang="en-US" sz="1200" dirty="0"/>
              <a:t>: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200" i="1" dirty="0"/>
              <a:t>Introverts: 0.61 correlation</a:t>
            </a:r>
            <a:endParaRPr lang="en-US" sz="1200" dirty="0"/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200" i="1" dirty="0"/>
              <a:t>Extroverts: 0.40 correlation</a:t>
            </a:r>
            <a:endParaRPr lang="en-US" sz="1200" dirty="0"/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200" i="1" dirty="0"/>
              <a:t>Difference: -0.22</a:t>
            </a:r>
          </a:p>
          <a:p>
            <a:r>
              <a:rPr lang="en-US" sz="1200" dirty="0"/>
              <a:t>This suggests that introverts' outdoor activities are more closely tied to social events.</a:t>
            </a:r>
          </a:p>
          <a:p>
            <a:br>
              <a:rPr lang="en-US" sz="1200" dirty="0"/>
            </a:br>
            <a:r>
              <a:rPr lang="en-US" sz="1200" b="1" dirty="0"/>
              <a:t>Implications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200" dirty="0"/>
              <a:t>Introverts show more consistent patterns in their social behaviors.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200" dirty="0"/>
              <a:t>Extroverts show more independent social behaviors.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200" dirty="0"/>
              <a:t>The relationships between social activities and more pronounced for introverts.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200" dirty="0"/>
              <a:t>Time spent alone has a more uniform effect on extroverts' social behaviors.</a:t>
            </a:r>
          </a:p>
          <a:p>
            <a:endParaRPr lang="en-US" sz="1200" b="1" dirty="0"/>
          </a:p>
          <a:p>
            <a:r>
              <a:rPr lang="en-US" sz="1200" b="1" dirty="0"/>
              <a:t>Behavioral Patterns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200" dirty="0"/>
              <a:t>Introverts tend to have more coordinated social behaviors.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200" dirty="0"/>
              <a:t>Extroverts show more flexibility in how their social behaviors relate to each other.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200" dirty="0"/>
              <a:t>This might reflect different social engagement strategies between the two personality types.</a:t>
            </a:r>
          </a:p>
        </p:txBody>
      </p:sp>
    </p:spTree>
    <p:extLst>
      <p:ext uri="{BB962C8B-B14F-4D97-AF65-F5344CB8AC3E}">
        <p14:creationId xmlns:p14="http://schemas.microsoft.com/office/powerpoint/2010/main" val="23088742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0A209-1CC8-E42E-BC4B-E1D32C014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Relationship Between Categorical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35BE7B-F5C2-9D31-401F-5CD92A0902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155" y="1589651"/>
            <a:ext cx="2910348" cy="2657884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US" sz="3700" b="1" dirty="0"/>
              <a:t>Stage Fear Analysis</a:t>
            </a:r>
          </a:p>
          <a:p>
            <a:pPr marL="0" indent="0">
              <a:buNone/>
            </a:pPr>
            <a:r>
              <a:rPr lang="en-US" sz="3700" b="1" dirty="0"/>
              <a:t>Cramer's V = 0.85 </a:t>
            </a:r>
            <a:r>
              <a:rPr lang="en-US" sz="3700" dirty="0"/>
              <a:t>(shows a very strong association with personality)</a:t>
            </a:r>
          </a:p>
          <a:p>
            <a:pPr marL="0" indent="0">
              <a:buNone/>
            </a:pPr>
            <a:r>
              <a:rPr lang="en-US" sz="3700" dirty="0"/>
              <a:t>Contingency Table shows: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700" b="1" dirty="0"/>
              <a:t>91.4%</a:t>
            </a:r>
            <a:r>
              <a:rPr lang="en-US" sz="3700" dirty="0"/>
              <a:t> of Extroverts have </a:t>
            </a:r>
            <a:r>
              <a:rPr lang="en-US" sz="3700" b="1" dirty="0"/>
              <a:t>No</a:t>
            </a:r>
            <a:r>
              <a:rPr lang="en-US" sz="3700" dirty="0"/>
              <a:t> stage fear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700" b="1" dirty="0"/>
              <a:t>93.7% </a:t>
            </a:r>
            <a:r>
              <a:rPr lang="en-US" sz="3700" dirty="0"/>
              <a:t>of Introverts have </a:t>
            </a:r>
            <a:r>
              <a:rPr lang="en-US" sz="3700" b="1" dirty="0"/>
              <a:t>Yes </a:t>
            </a:r>
            <a:r>
              <a:rPr lang="en-US" sz="3700" dirty="0"/>
              <a:t>stage fear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3700" dirty="0"/>
              <a:t>This indicates a very strong relationship between stage fear and personality type.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3700" dirty="0"/>
              <a:t>The relationship is almost perfect, suggesting stage fear is a very reliable indicator of personality type.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7A11FE-8C6C-DDE9-4158-97882BD264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8894" y="1519035"/>
            <a:ext cx="6154993" cy="40585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C5108A7-40D6-1FA5-A2FE-5464B1E02DE6}"/>
              </a:ext>
            </a:extLst>
          </p:cNvPr>
          <p:cNvSpPr txBox="1"/>
          <p:nvPr/>
        </p:nvSpPr>
        <p:spPr>
          <a:xfrm>
            <a:off x="0" y="4336025"/>
            <a:ext cx="301850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Drained After Socializing Analysis</a:t>
            </a:r>
          </a:p>
          <a:p>
            <a:r>
              <a:rPr lang="en-US" sz="1200" b="1" dirty="0"/>
              <a:t>Cramer's V= 0.85 </a:t>
            </a:r>
            <a:r>
              <a:rPr lang="en-US" sz="1200" dirty="0"/>
              <a:t>(very strong association with personality)</a:t>
            </a:r>
          </a:p>
          <a:p>
            <a:r>
              <a:rPr lang="en-US" sz="1200" dirty="0"/>
              <a:t>Contingency Table shows: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1" dirty="0"/>
              <a:t>91.4% </a:t>
            </a:r>
            <a:r>
              <a:rPr lang="en-US" sz="1200" dirty="0"/>
              <a:t>of Extroverts </a:t>
            </a:r>
            <a:r>
              <a:rPr lang="en-US" sz="1200" b="1" dirty="0"/>
              <a:t>Do NOT feel drained </a:t>
            </a:r>
            <a:r>
              <a:rPr lang="en-US" sz="1200" dirty="0"/>
              <a:t>after socializing.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1" dirty="0"/>
              <a:t>93.7% </a:t>
            </a:r>
            <a:r>
              <a:rPr lang="en-US" sz="1200" dirty="0"/>
              <a:t>of Introverts </a:t>
            </a:r>
            <a:r>
              <a:rPr lang="en-US" sz="1200" b="1" dirty="0"/>
              <a:t>DO feel drained </a:t>
            </a:r>
            <a:r>
              <a:rPr lang="en-US" sz="1200" dirty="0"/>
              <a:t>after socializing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200" dirty="0"/>
              <a:t>This shows an equally strong relationship between feeling drained and personality type.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200" dirty="0"/>
              <a:t>The pattern is very similar to stage fear, suggesting these are closely related behaviors.</a:t>
            </a:r>
          </a:p>
          <a:p>
            <a:endParaRPr lang="en-US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EE96B8-3E90-588E-87CD-B4187F76EF94}"/>
              </a:ext>
            </a:extLst>
          </p:cNvPr>
          <p:cNvSpPr txBox="1"/>
          <p:nvPr/>
        </p:nvSpPr>
        <p:spPr>
          <a:xfrm>
            <a:off x="9497962" y="1104371"/>
            <a:ext cx="248756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Relationship between Stage Fear and Drained After Socializing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1" dirty="0"/>
              <a:t>Cramer's V = 0.999</a:t>
            </a:r>
            <a:r>
              <a:rPr lang="en-US" sz="1200" dirty="0"/>
              <a:t> (almost perfect association)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200" dirty="0"/>
              <a:t>This extremely high value suggests these two features are almost perfectly correlated.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200" dirty="0"/>
              <a:t>This means that people who experience stage fear are almost always the same who feel drained after socializing.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200" dirty="0"/>
              <a:t>This strong relationship suggests these might be measuring the same underlying trait.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FDFC43-3578-1889-4B2B-A0D663C8FC60}"/>
              </a:ext>
            </a:extLst>
          </p:cNvPr>
          <p:cNvSpPr txBox="1"/>
          <p:nvPr/>
        </p:nvSpPr>
        <p:spPr>
          <a:xfrm>
            <a:off x="9463548" y="4119717"/>
            <a:ext cx="2556387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Key Insights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200" dirty="0"/>
              <a:t>Both categorical features are excellent predictors of personality type.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200" dirty="0"/>
              <a:t>The features are highly consistent with each other.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200" dirty="0"/>
              <a:t>The patterns are very clear and strong.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200" dirty="0"/>
              <a:t>There's almost no overlap between personality types in these behaviors.</a:t>
            </a:r>
          </a:p>
          <a:p>
            <a:br>
              <a:rPr lang="en-US" sz="1200" dirty="0"/>
            </a:br>
            <a:endParaRPr lang="en-US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1B61D4-14B7-6C03-B5F6-6B34D0FF7A00}"/>
              </a:ext>
            </a:extLst>
          </p:cNvPr>
          <p:cNvSpPr txBox="1"/>
          <p:nvPr/>
        </p:nvSpPr>
        <p:spPr>
          <a:xfrm>
            <a:off x="3163529" y="5657671"/>
            <a:ext cx="61549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Implications</a:t>
            </a:r>
            <a:br>
              <a:rPr lang="en-US" sz="1200" dirty="0"/>
            </a:br>
            <a:r>
              <a:rPr lang="en-US" sz="1200" dirty="0"/>
              <a:t>These categorical features are very reliable indicators of personality type.</a:t>
            </a:r>
          </a:p>
          <a:p>
            <a:pPr marL="171450" indent="-171450" algn="ctr">
              <a:buFont typeface="Courier New" panose="02070309020205020404" pitchFamily="49" charset="0"/>
              <a:buChar char="o"/>
            </a:pPr>
            <a:r>
              <a:rPr lang="en-US" sz="1200" dirty="0"/>
              <a:t>The strong relationship between the features suggests they might be measuring the same underlying anxiety trait.</a:t>
            </a:r>
          </a:p>
          <a:p>
            <a:pPr marL="171450" indent="-171450" algn="ctr">
              <a:buFont typeface="Courier New" panose="02070309020205020404" pitchFamily="49" charset="0"/>
              <a:buChar char="o"/>
            </a:pPr>
            <a:r>
              <a:rPr lang="en-US" sz="1200" dirty="0"/>
              <a:t>The clear separation between personality types makes these features very valuable for classification.</a:t>
            </a:r>
          </a:p>
        </p:txBody>
      </p:sp>
    </p:spTree>
    <p:extLst>
      <p:ext uri="{BB962C8B-B14F-4D97-AF65-F5344CB8AC3E}">
        <p14:creationId xmlns:p14="http://schemas.microsoft.com/office/powerpoint/2010/main" val="272707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1470</Words>
  <Application>Microsoft Office PowerPoint</Application>
  <PresentationFormat>Widescreen</PresentationFormat>
  <Paragraphs>143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Courier New</vt:lpstr>
      <vt:lpstr>Wingdings</vt:lpstr>
      <vt:lpstr>Office Theme</vt:lpstr>
      <vt:lpstr>Personality and Social Psychology Analysis</vt:lpstr>
      <vt:lpstr>Introduction and Objectives</vt:lpstr>
      <vt:lpstr>Data Overview</vt:lpstr>
      <vt:lpstr>Data Cleaning and Preparation</vt:lpstr>
      <vt:lpstr>Class Balance</vt:lpstr>
      <vt:lpstr>Exploratory Data Analysis</vt:lpstr>
      <vt:lpstr>Are Introverts More Likely To Experience Stage-Fright as Compared To Extroverts?</vt:lpstr>
      <vt:lpstr>What is the likelihood of each group spending time indoors or outdoors?</vt:lpstr>
      <vt:lpstr>What Is The Average Likelihood For Each Group To Attend Social Events</vt:lpstr>
      <vt:lpstr>Emotional Well-being After Social Interaction</vt:lpstr>
      <vt:lpstr>Friends Circle Size</vt:lpstr>
      <vt:lpstr>Post Frequency</vt:lpstr>
      <vt:lpstr>Correlation Analysis</vt:lpstr>
      <vt:lpstr>How Do These Correlations Differ Between Introverts and Extroverts?</vt:lpstr>
      <vt:lpstr>The Relationship Between Categorical Features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Personality and Social Psychology Analysis</dc:title>
  <dc:creator>Wesley Omoke</dc:creator>
  <cp:lastModifiedBy>Wesley Omoke</cp:lastModifiedBy>
  <cp:revision>1</cp:revision>
  <dcterms:created xsi:type="dcterms:W3CDTF">2025-06-21T11:13:31Z</dcterms:created>
  <dcterms:modified xsi:type="dcterms:W3CDTF">2025-06-21T11:16:11Z</dcterms:modified>
</cp:coreProperties>
</file>